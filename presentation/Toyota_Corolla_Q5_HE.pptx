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45 שניות.</a:t>
            </a:r>
          </a:p>
          <a:p>
            <a:r>
              <a:rPr sz="1200">
                <a:latin typeface="Arial"/>
              </a:rPr>
              <a:t>המסר: להציג את השאלה ומיד את המגבלה המתודולוגית.</a:t>
            </a:r>
          </a:p>
          <a:p>
            <a:r>
              <a:rPr sz="1200">
                <a:latin typeface="Arial"/>
              </a:rPr>
              <a:t>אמרו: המשימה שלנו היא לבדוק אם בנתונים נראות קבוצות מובחנות של רכבים, ובמה הן נבדלות.</a:t>
            </a:r>
          </a:p>
          <a:p>
            <a:r>
              <a:rPr sz="1200">
                <a:latin typeface="Arial"/>
              </a:rPr>
              <a:t>הדגישו: אסור להשתמש ב-clustering, ולכן חיפשנו את הקבוצות בכלי EDA — טבלאות שכיחויות וגרפים.</a:t>
            </a:r>
          </a:p>
          <a:p>
            <a:r>
              <a:rPr sz="1200">
                <a:latin typeface="Arial"/>
              </a:rPr>
              <a:t>הציגו את חברי הקבוצה.</a:t>
            </a:r>
          </a:p>
          <a:p>
            <a:r>
              <a:rPr sz="1200">
                <a:latin typeface="Arial"/>
              </a:rPr>
              <a:t>מעבר: נתחיל בנתונים ובמהלך הניתוח.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ורבע.</a:t>
            </a:r>
          </a:p>
          <a:p>
            <a:r>
              <a:rPr sz="1200">
                <a:latin typeface="Arial"/>
              </a:rPr>
              <a:t>המסר: להראות את היקף הנתונים ואת ההיגיון של הניתוח.</a:t>
            </a:r>
          </a:p>
          <a:p>
            <a:r>
              <a:rPr sz="1200">
                <a:latin typeface="Arial"/>
              </a:rPr>
              <a:t>מנו את המשתנים במהירות: מחיר, גיל, קילומטראז', הספק, נפח, משקל, דלק, אוטומט, מס, דלתות.</a:t>
            </a:r>
          </a:p>
          <a:p>
            <a:r>
              <a:rPr sz="1200">
                <a:latin typeface="Arial"/>
              </a:rPr>
              <a:t>הדגישו את חוסר האיזון: 88 אחוז מהמאגר בנזין, ו-CNG רק 17 רכבים.</a:t>
            </a:r>
          </a:p>
          <a:p>
            <a:r>
              <a:rPr sz="1200">
                <a:latin typeface="Arial"/>
              </a:rPr>
              <a:t>אם שואלים למה לא כל 39 העמודות: המטלה דורשת רק את המשתנים שעונים על השאלה.</a:t>
            </a:r>
          </a:p>
          <a:p>
            <a:r>
              <a:rPr sz="1200">
                <a:latin typeface="Arial"/>
              </a:rPr>
              <a:t>מעבר: נתחיל מהתפלגות המחיר.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דקה.</a:t>
            </a:r>
          </a:p>
          <a:p>
            <a:r>
              <a:rPr sz="1200">
                <a:latin typeface="Arial"/>
              </a:rPr>
              <a:t>המסר: להצדיק את ארגז הכלים הסטטיסטי שנשתמש בו בהמשך.</a:t>
            </a:r>
          </a:p>
          <a:p>
            <a:r>
              <a:rPr sz="1200">
                <a:latin typeface="Arial"/>
              </a:rPr>
              <a:t>קראו את החציונים מהגרף: 9,900 אירו, 61 חודשים, 63,390 קילומטר.</a:t>
            </a:r>
          </a:p>
          <a:p>
            <a:r>
              <a:rPr sz="1200">
                <a:latin typeface="Arial"/>
              </a:rPr>
              <a:t>הצביעו על הזנב הימני בהתפלגות המחיר ובהתפלגות הקילומטראז'.</a:t>
            </a:r>
          </a:p>
          <a:p>
            <a:r>
              <a:rPr sz="1200">
                <a:latin typeface="Arial"/>
              </a:rPr>
              <a:t>מכאן ההחלטה: חציונים במקום ממוצעים, ומבחנים לא־פרמטריים — Spearman, Kruskal–Wallis, Mann–Whitney.</a:t>
            </a:r>
          </a:p>
          <a:p>
            <a:r>
              <a:rPr sz="1200">
                <a:latin typeface="Arial"/>
              </a:rPr>
              <a:t>אם שואלים למה לא Pearson: המחיר מוטה ויש ערכי קיצון; Spearman מודד קשר מונוטוני ודורש פחות הנחות.</a:t>
            </a:r>
          </a:p>
          <a:p>
            <a:r>
              <a:rPr sz="1200">
                <a:latin typeface="Arial"/>
              </a:rPr>
              <a:t>מעבר: נתחיל מהמשתנה שקשור למחיר הכי חזק.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וחצי.</a:t>
            </a:r>
          </a:p>
          <a:p>
            <a:r>
              <a:rPr sz="1200">
                <a:latin typeface="Arial"/>
              </a:rPr>
              <a:t>המסר: הגיל מסביר את המבנה הבסיסי של המחיר.</a:t>
            </a:r>
          </a:p>
          <a:p>
            <a:r>
              <a:rPr sz="1200">
                <a:latin typeface="Arial"/>
              </a:rPr>
              <a:t>הצביעו: ציר אופקי גיל, ציר אנכי מחיר, הצבע הוא סוג הדלק, הקו השחור מחבר חציונים בקבוצות גיל.</a:t>
            </a:r>
          </a:p>
          <a:p>
            <a:r>
              <a:rPr sz="1200">
                <a:latin typeface="Arial"/>
              </a:rPr>
              <a:t>רכבים צעירים בחלק העליון; סביב 60 עד 80 חודשים הכול מתכנס ל-6 עד 11 אלף אירו.</a:t>
            </a:r>
          </a:p>
          <a:p>
            <a:r>
              <a:rPr sz="1200">
                <a:latin typeface="Arial"/>
              </a:rPr>
              <a:t>מספר מפתח: ρ = −0.842.</a:t>
            </a:r>
          </a:p>
          <a:p>
            <a:r>
              <a:rPr sz="1200">
                <a:latin typeface="Arial"/>
              </a:rPr>
              <a:t>הסתייגות: אלו נתוני תצפית, ולכן מדובר בקשר ולא בסיבתיות.</a:t>
            </a:r>
          </a:p>
          <a:p>
            <a:r>
              <a:rPr sz="1200">
                <a:latin typeface="Arial"/>
              </a:rPr>
              <a:t>מעבר: הגיל מסביר הרבה, אבל רכבים באותו גיל עדיין נבדלים. המועמד הבא הוא הקילומטראז'.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ורבע.</a:t>
            </a:r>
          </a:p>
          <a:p>
            <a:r>
              <a:rPr sz="1200">
                <a:latin typeface="Arial"/>
              </a:rPr>
              <a:t>המסר: הקילומטראז' הוא הרכיב השני של מחזור החיים, והוא גם חושף דפוסי שימוש שונים.</a:t>
            </a:r>
          </a:p>
          <a:p>
            <a:r>
              <a:rPr sz="1200">
                <a:latin typeface="Arial"/>
              </a:rPr>
              <a:t>שימו לב לצורת הקו השחור: הוא יורד בחדות בתחילת הטווח — הקשר אינו לינארי. זה יחזור בשקף האחרון.</a:t>
            </a:r>
          </a:p>
          <a:p>
            <a:r>
              <a:rPr sz="1200">
                <a:latin typeface="Arial"/>
              </a:rPr>
              <a:t>חציונים: Petrol כ-61 אלף ק"מ, Diesel 117 אלף, CNG 115 אלף. ההבדל מובהק, ε² = 0.104.</a:t>
            </a:r>
          </a:p>
          <a:p>
            <a:r>
              <a:rPr sz="1200">
                <a:latin typeface="Arial"/>
              </a:rPr>
              <a:t>אם שואלים על הקו: אלו חציונים מחוברים לפי עשירונים, לא רגרסיה.</a:t>
            </a:r>
          </a:p>
          <a:p>
            <a:r>
              <a:rPr sz="1200">
                <a:latin typeface="Arial"/>
              </a:rPr>
              <a:t>מעבר: עד כה קיבצנו לפי סוג דלק. עכשיו נבדוק אם קיים קיבוץ טוב יותר.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ורבע. זהו שקף המפנה — אל תמהרו.</a:t>
            </a:r>
          </a:p>
          <a:p>
            <a:r>
              <a:rPr sz="1200">
                <a:latin typeface="Arial"/>
              </a:rPr>
              <a:t>המסר: נפח מנוע והספק אינם רציפים אלא מקבלים מספר רמות יצרן. לכן אפשר פשוט לקרוא את הקבוצות מטבלה.</a:t>
            </a:r>
          </a:p>
          <a:p>
            <a:r>
              <a:rPr sz="1200">
                <a:latin typeface="Arial"/>
              </a:rPr>
              <a:t>הצביעו על המפה: מתוך 144 שילובי CC × HP מאוכלסים רק 24, ושש תצורות מכסות 94 אחוז מהמאגר.</a:t>
            </a:r>
          </a:p>
          <a:p>
            <a:r>
              <a:rPr sz="1200">
                <a:latin typeface="Arial"/>
              </a:rPr>
              <a:t>הזכירו שניים-שלושה סגמנטים מהטבלה; אל תקראו אותה במלואה.</a:t>
            </a:r>
          </a:p>
          <a:p>
            <a:r>
              <a:rPr sz="1200">
                <a:latin typeface="Arial"/>
              </a:rPr>
              <a:t>חשוב לומר על הדיזל: זו לא קבוצה אחת אלא שתיים. הישן 2.0 — גיל 62 חודשים, חציון 8,550 אירו. החדש D4D — גיל 23 חודשים, חציון 16,950.</a:t>
            </a:r>
          </a:p>
          <a:p>
            <a:r>
              <a:rPr sz="1200">
                <a:latin typeface="Arial"/>
              </a:rPr>
              <a:t>משפט ההגנה: קראנו טבלת שכיחויות, לא הרצנו אלגוריתם. המגבלה של המטלה נשמרת.</a:t>
            </a:r>
          </a:p>
          <a:p>
            <a:r>
              <a:rPr sz="1200">
                <a:latin typeface="Arial"/>
              </a:rPr>
              <a:t>אם שואלים על הגבול HP = 90 בדיזל: זה לא סף שכוונן אלא רווח בנתונים — אין דיזל עם 73 עד 90 כוחות סוס.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ושלושת רבעי.</a:t>
            </a:r>
          </a:p>
          <a:p>
            <a:r>
              <a:rPr sz="1200">
                <a:latin typeface="Arial"/>
              </a:rPr>
              <a:t>המסר: המבחן הכללי אמר שאין הבדל, וזו טעות פרשנית.</a:t>
            </a:r>
          </a:p>
          <a:p>
            <a:r>
              <a:rPr sz="1200">
                <a:latin typeface="Arial"/>
              </a:rPr>
              <a:t>קודם אמרו זאת בכנות: על כל המאגר Kruskal–Wallis על המחיר נותן p = 0.135 ו-ε² = 0.003, כלומר אפס.</a:t>
            </a:r>
          </a:p>
          <a:p>
            <a:r>
              <a:rPr sz="1200">
                <a:latin typeface="Arial"/>
              </a:rPr>
              <a:t>אחר כך הסבירו למה: רכבי הדיזל מבוגרים יותר ועם הרבה יותר קילומטראז', והגיל הוא הגורם המרכזי למחיר.</a:t>
            </a:r>
          </a:p>
          <a:p>
            <a:r>
              <a:rPr sz="1200">
                <a:latin typeface="Arial"/>
              </a:rPr>
              <a:t>הצביעו על הפאנל השמאלי: הקווים מצטלבים. דיזל צעיר יקר יותר, 19,600 מול 17,848 אירו; מבוגר זול יותר, 8,950 מול 10,675.</a:t>
            </a:r>
          </a:p>
          <a:p>
            <a:r>
              <a:rPr sz="1200">
                <a:latin typeface="Arial"/>
              </a:rPr>
              <a:t>מספר מפתח: בקבוצת 46 עד 60 חודשים rank-biserial = 0.52 עם p &lt; 0.001.</a:t>
            </a:r>
          </a:p>
          <a:p>
            <a:r>
              <a:rPr sz="1200">
                <a:latin typeface="Arial"/>
              </a:rPr>
              <a:t>קראו לזה בשמו: מיסוך על ידי משתנה מבלבל, וריאציה של פרדוקס סימפסון.</a:t>
            </a:r>
          </a:p>
          <a:p>
            <a:r>
              <a:rPr sz="1200">
                <a:latin typeface="Arial"/>
              </a:rPr>
              <a:t>מעבר: לכן צריך משתנה קיבוץ אחר.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וחצי. זו התשובה הישירה לשאלת המחקר.</a:t>
            </a:r>
          </a:p>
          <a:p>
            <a:r>
              <a:rPr sz="1200">
                <a:latin typeface="Arial"/>
              </a:rPr>
              <a:t>המסר: הקבוצות קיימות, פשוט היה צריך לחפש אותן לפי המשתנים הנכונים.</a:t>
            </a:r>
          </a:p>
          <a:p>
            <a:r>
              <a:rPr sz="1200">
                <a:latin typeface="Arial"/>
              </a:rPr>
              <a:t>הקריאו את שתי השורות בטבלה: לפי סוג דלק ε² = 0.003, לפי תצורה טכנית ε² = 0.260. פער של כמעט פי מאה.</a:t>
            </a:r>
          </a:p>
          <a:p>
            <a:r>
              <a:rPr sz="1200">
                <a:latin typeface="Arial"/>
              </a:rPr>
              <a:t>הצביעו על טווח החציונים בגרף: מ-8,500 אירו ב-Petrol 1.3 עד 21,950 ב-T-Sport.</a:t>
            </a:r>
          </a:p>
          <a:p>
            <a:r>
              <a:rPr sz="1200">
                <a:latin typeface="Arial"/>
              </a:rPr>
              <a:t>השורה השלישית היא ההגנה החזקה ביותר: בתוך קבוצת גיל צרה של 45 עד 70 חודשים האפקט נשמר, 0.170. כלומר זה לא הגיל באריזה אחרת.</a:t>
            </a:r>
          </a:p>
          <a:p>
            <a:r>
              <a:rPr sz="1200">
                <a:latin typeface="Arial"/>
              </a:rPr>
              <a:t>נסחו את התשובה המלאה: כמה סגמנטים טכניים מובחנים, ומעליהם מדרג גיל רציף.</a:t>
            </a:r>
          </a:p>
          <a:p>
            <a:r>
              <a:rPr sz="1200">
                <a:latin typeface="Arial"/>
              </a:rPr>
              <a:t>אם שואלים אם אלו clusters: הקבוצות קיימות, אבל איננו משתמשים במונח כי הוא מתייחס לשיטה שהמטלה אוסרת.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Arial"/>
              </a:rPr>
              <a:t>⏱ דקה ורבע.</a:t>
            </a:r>
          </a:p>
          <a:p>
            <a:r>
              <a:rPr sz="1200">
                <a:latin typeface="Arial"/>
              </a:rPr>
              <a:t>המסר: לסגור את חלק ג' של המטלה — אילו החלטות ה-EDA שלנו מכתיב.</a:t>
            </a:r>
          </a:p>
          <a:p>
            <a:r>
              <a:rPr sz="1200">
                <a:latin typeface="Arial"/>
              </a:rPr>
              <a:t>עברו על ארבע הנקודות במדויק, משפט לכל אחת. אל תעמיקו.</a:t>
            </a:r>
          </a:p>
          <a:p>
            <a:r>
              <a:rPr sz="1200">
                <a:latin typeface="Arial"/>
              </a:rPr>
              <a:t>הנקודה החזקה ביותר היא השלישית: את האינטראקציה Age × Fuel_Type לא הנחנו, הוכחנו אותה בשקף הקודם.</a:t>
            </a:r>
          </a:p>
          <a:p>
            <a:r>
              <a:rPr sz="1200">
                <a:latin typeface="Arial"/>
              </a:rPr>
              <a:t>סיימו במשפט: בהתאם למטלה, את המודל עצמו לא בנינו.</a:t>
            </a:r>
          </a:p>
          <a:p>
            <a:r>
              <a:rPr sz="1200">
                <a:latin typeface="Arial"/>
              </a:rPr>
              <a:t>סיום: תודה, נשמח לשאלות.</a:t>
            </a:r>
          </a:p>
          <a:p>
            <a:r>
              <a:rPr sz="1200">
                <a:latin typeface="Arial"/>
              </a:rPr>
              <a:t>שאלה נפוצה — איזה מודל הייתם בודקים ראשון: היינו משווים רגרסיה לינארית אחרי טרנספורמציות מול מודל מבוסס עצים.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932688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EA580C"/>
                </a:solidFill>
                <a:latin typeface="Arial"/>
              </a:rP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27632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ניתוח נתונים מקדים — ⁦Toyota Corolla⁩</a:t>
            </a:r>
          </a:p>
          <a:p>
            <a:pPr algn="r" rtl="1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שאלה ⁦5⁩ — זיהוי קבוצות של רכבים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8973007" y="3730752"/>
            <a:ext cx="2377440" cy="502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900" b="0">
                <a:solidFill>
                  <a:srgbClr val="E5E9F0"/>
                </a:solidFill>
                <a:latin typeface="Arial"/>
              </a:rPr>
              <a:t>האם הנתונים מצביעים על קבוצות מובחנות של רכבי ⁦Toyota Corolla⁩ על בסיס גיל, קילומטראז', הספק, נפח מנוע, משקל, סוג דלק ומחיר? אם כן — במה קבוצות אלו נבדלות?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85232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500" b="0">
                <a:solidFill>
                  <a:srgbClr val="7DA6FF"/>
                </a:solidFill>
                <a:latin typeface="Arial"/>
              </a:rPr>
              <a:t>כלי ⁦EDA⁩ בלבד · ללא אלגוריתמי ⁦clustering⁩ · ללא בניית מודל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61888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ניתוח מידע בתוכנות סטטיסטיות  |  קיץ תשפ"ו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נתונים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הנתונים ומהלך הניתוח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3515258" cy="1517904"/>
          </a:xfrm>
          <a:prstGeom prst="rect">
            <a:avLst/>
          </a:prstGeom>
          <a:solidFill>
            <a:srgbClr val="1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 rtl="1"/>
            <a:r>
              <a:rPr sz="1400" b="0">
                <a:solidFill>
                  <a:srgbClr val="7DA6FF"/>
                </a:solidFill>
                <a:latin typeface="Arial"/>
              </a:rPr>
              <a:t>סוגי דלק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8218" y="1627632"/>
            <a:ext cx="3515258" cy="1517904"/>
          </a:xfrm>
          <a:prstGeom prst="rect">
            <a:avLst/>
          </a:prstGeom>
          <a:solidFill>
            <a:srgbClr val="1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 rtl="1"/>
            <a:r>
              <a:rPr sz="1400" b="0">
                <a:solidFill>
                  <a:srgbClr val="7DA6FF"/>
                </a:solidFill>
                <a:latin typeface="Arial"/>
              </a:rPr>
              <a:t>משתנים רלוונטיים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9508" y="1627632"/>
            <a:ext cx="3515258" cy="1517904"/>
          </a:xfrm>
          <a:prstGeom prst="rect">
            <a:avLst/>
          </a:prstGeom>
          <a:solidFill>
            <a:srgbClr val="12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1,436</a:t>
            </a:r>
          </a:p>
          <a:p>
            <a:pPr algn="ctr" rtl="1"/>
            <a:r>
              <a:rPr sz="1400" b="0">
                <a:solidFill>
                  <a:srgbClr val="7DA6FF"/>
                </a:solidFill>
                <a:latin typeface="Arial"/>
              </a:rPr>
              <a:t>רכבים במאגר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621024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 rtl="1"/>
            <a:r>
              <a:rPr sz="1600" b="1">
                <a:solidFill>
                  <a:srgbClr val="1D4ED8"/>
                </a:solidFill>
                <a:latin typeface="Arial"/>
              </a:rPr>
              <a:t>התפלגויות  ←  קשרים עם המחיר  ←  זיהוי קבוצות  ←  מבחנים  ←  ריבוד לפי גיל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35424"/>
            <a:ext cx="11057839" cy="1819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11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•  ⁦Petrol 1,264 (88.0%) · Diesel 155 (10.8%) · CNG 17 (1.2%)⁩ — הקבוצות אינן מאוזנות.</a:t>
            </a:r>
          </a:p>
          <a:p>
            <a:pPr algn="r" rtl="1">
              <a:spcAft>
                <a:spcPts val="1100"/>
              </a:spcAft>
            </a:pPr>
            <a:r>
              <a:rPr sz="1800" b="0">
                <a:solidFill>
                  <a:srgbClr val="111827"/>
                </a:solidFill>
                <a:latin typeface="Arial"/>
              </a:rPr>
              <a:t>•  לכן כל מסקנה לגבי ⁦CNG⁩ היא ראשונית בלבד.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נקודת פתיחה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נקודת הפתיחה: התפלגויות המשתנים</a:t>
            </a:r>
          </a:p>
        </p:txBody>
      </p:sp>
      <p:pic>
        <p:nvPicPr>
          <p:cNvPr id="5" name="Picture 4" descr="0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7733"/>
            <a:ext cx="11057839" cy="33779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751576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0759" y="5751576"/>
            <a:ext cx="64008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חציונים: ⁦9,900 € · 61⁩ חודשים · ⁦63,390⁩ ק"מ. ההתפלגויות מוטות ⇐ שיטות לא־פרמטריות.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גיל הרכב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גיל הרכב — הגורם המרכזי למחיר</a:t>
            </a:r>
          </a:p>
        </p:txBody>
      </p:sp>
      <p:pic>
        <p:nvPicPr>
          <p:cNvPr id="5" name="Picture 4" descr="02_price_age_by_f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719" y="1481328"/>
            <a:ext cx="6916256" cy="4050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751576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0759" y="5751576"/>
            <a:ext cx="64008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הקשר החזק ביותר במאגר: ⁦Spearman ρ = -0.842, p &lt; 0.001⁩.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קילומטראז'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קילומטראז' משלים את הגיל</a:t>
            </a:r>
          </a:p>
        </p:txBody>
      </p:sp>
      <p:pic>
        <p:nvPicPr>
          <p:cNvPr id="5" name="Picture 4" descr="03_price_km_by_f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247" y="1481328"/>
            <a:ext cx="6895200" cy="4050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751576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0759" y="5751576"/>
            <a:ext cx="64008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הקילומטראז' החציוני של ⁦Diesel⁩ גבוה כמעט פי שניים מזה של ⁦Petrol; ρ = -0.616⁩.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זיהוי קבוצות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הקבוצות נראות בטבלת השכיחויות של ⁦CC⁩ ו-⁦HP⁩</a:t>
            </a:r>
          </a:p>
        </p:txBody>
      </p:sp>
      <p:pic>
        <p:nvPicPr>
          <p:cNvPr id="5" name="Picture 4" descr="07_configur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58" y="1481328"/>
            <a:ext cx="6646648" cy="405079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63140"/>
          <a:ext cx="3982946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248"/>
                <a:gridCol w="876248"/>
                <a:gridCol w="477953"/>
                <a:gridCol w="1752497"/>
              </a:tblGrid>
              <a:tr h="310896">
                <a:tc>
                  <a:txBody>
                    <a:bodyPr/>
                    <a:lstStyle/>
                    <a:p>
                      <a:pPr algn="l" rtl="1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גיל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מחיר, €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סגמנט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9,950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Petrol 1.6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8,500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Petrol 1.3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11,822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Petrol 1.4 VVT-i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8,550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⁦Diesel 2.0/1.9⁩ דור קודם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16,950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⁦Diesel D4D⁩ דור חדש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8,950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CNG 1.6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21,950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Petrol 1.8 T-Sport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51576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0759" y="5751576"/>
            <a:ext cx="64008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שש תצורות מכסות ⁦94.2%⁩ מהמאגר; מאוכלסים ⁦24⁩ תאים בלבד מתוך ⁦144⁩.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בדיקה סטטיסטית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אפס אפקט של סוג הדלק — תוצר של מיסוך</a:t>
            </a:r>
          </a:p>
        </p:txBody>
      </p:sp>
      <p:pic>
        <p:nvPicPr>
          <p:cNvPr id="5" name="Picture 4" descr="09_stratified_price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197" y="2201359"/>
            <a:ext cx="6800570" cy="261072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574036"/>
          <a:ext cx="3982946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248"/>
                <a:gridCol w="955907"/>
                <a:gridCol w="955907"/>
                <a:gridCol w="119488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Diesel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Petrol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גיל, חודשים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19,600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17,848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1-30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0.693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12,950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12,450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31-45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p &lt; 0.001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8,950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10,675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46-60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p &lt; 0.001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8,500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9,250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61-70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0.342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7,675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7,950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71-80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51576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0759" y="5751576"/>
            <a:ext cx="64008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מבחן כללי: ε² = ⁦0.003⁩. בקבוצת ⁦46–60⁩ חודשים: ⁦rank-biserial = 0.52, p &lt; 0.001⁩.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חלק ב' · תשובה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כן, קיימות קבוצות — תצורות מנוע</a:t>
            </a:r>
          </a:p>
        </p:txBody>
      </p:sp>
      <p:pic>
        <p:nvPicPr>
          <p:cNvPr id="5" name="Picture 4" descr="08_price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197" y="1910154"/>
            <a:ext cx="6800570" cy="319313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884932"/>
          <a:ext cx="398294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760"/>
                <a:gridCol w="756760"/>
                <a:gridCol w="477953"/>
                <a:gridCol w="199147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ε²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קיבוץ</a:t>
                      </a:r>
                    </a:p>
                  </a:txBody>
                  <a:tcPr marL="64008" marR="64008" marT="0" marB="0" anchor="ctr">
                    <a:solidFill>
                      <a:srgbClr val="1D4E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0.003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Fuel_Type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0.260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373.6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EA580C"/>
                          </a:solidFill>
                          <a:latin typeface="Arial"/>
                        </a:rPr>
                        <a:t>סגמנט (⁦Fuel×CC×HP)⁩</a:t>
                      </a:r>
                    </a:p>
                  </a:txBody>
                  <a:tcPr marL="64008" marR="64008" marT="0" marB="0" anchor="ctr">
                    <a:solidFill>
                      <a:srgbClr val="EFF6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0.170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120.7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>
                          <a:solidFill>
                            <a:srgbClr val="111827"/>
                          </a:solidFill>
                          <a:latin typeface="Arial"/>
                        </a:rPr>
                        <a:t>סגמנט | גיל ⁦45–70⁩</a:t>
                      </a:r>
                    </a:p>
                  </a:txBody>
                  <a:tcPr marL="64008" marR="6400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51576"/>
            <a:ext cx="11057839" cy="60350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0759" y="5751576"/>
            <a:ext cx="64008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90702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אותו משתנה מחיר: ε² = ⁦0.003⁩ לפי סוג דלק, ε² = ⁦0.260⁩ לפי תצורה.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42471" y="384048"/>
            <a:ext cx="82296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1300" b="0">
                <a:solidFill>
                  <a:srgbClr val="6B7280"/>
                </a:solidFill>
                <a:latin typeface="Arial"/>
              </a:rPr>
              <a:t>חלק ג' · השלכות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82009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/>
            <a:r>
              <a:rPr sz="3000" b="1">
                <a:solidFill>
                  <a:srgbClr val="111827"/>
                </a:solidFill>
                <a:latin typeface="Arial"/>
              </a:rPr>
              <a:t>כיצד ה-⁦EDA⁩ מכוון את בניית המודל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1057839" cy="1122426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74959" y="1804797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91056"/>
            <a:ext cx="9869119" cy="9029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בחירת משתנים.</a:t>
            </a:r>
            <a:r>
              <a:rPr sz="1600" b="0">
                <a:solidFill>
                  <a:srgbClr val="111827"/>
                </a:solidFill>
                <a:latin typeface="Arial"/>
              </a:rPr>
              <a:t>  ⁦Age_08_04, KM, Weight, HP, CC, Fuel_Type⁩. המשתנים הטכניים חופפים: ⁦Weight–Tax ρ = 0.720, CC–Weight ρ = 0.685. Cylinders⁩ קבוע — להוציא.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731770"/>
            <a:ext cx="11057839" cy="1122426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74959" y="3055239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41498"/>
            <a:ext cx="9869119" cy="9029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טרנספורמציות.</a:t>
            </a:r>
            <a:r>
              <a:rPr sz="1600" b="0">
                <a:solidFill>
                  <a:srgbClr val="111827"/>
                </a:solidFill>
                <a:latin typeface="Arial"/>
              </a:rPr>
              <a:t>  אין ערכים חסרים. מסלול החציונים יורד בחדות בתחילת הטווח ⇐ לבחון ⁦log(KM)⁩.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82212"/>
            <a:ext cx="11057839" cy="1122426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74959" y="4305681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91940"/>
            <a:ext cx="9869119" cy="9029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אינטראקציות.</a:t>
            </a:r>
            <a:r>
              <a:rPr sz="1600" b="0">
                <a:solidFill>
                  <a:srgbClr val="111827"/>
                </a:solidFill>
                <a:latin typeface="Arial"/>
              </a:rPr>
              <a:t>  ⁦Age × Fuel_Type⁩ הכרחית: בלעדיה המודל ישחזר את אפקט הדלק האפסי והשגוי.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232654"/>
            <a:ext cx="11057839" cy="1122426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74959" y="5556123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342382"/>
            <a:ext cx="9869119" cy="9029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700" b="1">
                <a:solidFill>
                  <a:srgbClr val="1D4ED8"/>
                </a:solidFill>
                <a:latin typeface="Arial"/>
              </a:rPr>
              <a:t>סוג המודל.</a:t>
            </a:r>
            <a:r>
              <a:rPr sz="1600" b="0">
                <a:solidFill>
                  <a:srgbClr val="111827"/>
                </a:solidFill>
                <a:latin typeface="Arial"/>
              </a:rPr>
              <a:t>  סגמנטים בדידים ואינטראקציות ⇐ מודל מבוסס עצים. רגרסיה לינארית רק כבסיס פרשני, אחרי ⁦log(KM)⁩ ואינטראקציה מפורשת.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ניתוח נתונים מקדים — Toyota Corolla</dc:title>
  <dc:subject/>
  <dc:creator/>
  <ns0:keywords/>
  <dc:description>generated using python-pptx</dc:description>
  <ns0:lastModifiedBy/>
  <ns0:revision>1</ns0:revision>
  <ns2:created xsi:type="dcterms:W3CDTF">2026-08-20T11:17:07Z</ns2:created>
  <ns2:modified xsi:type="dcterms:W3CDTF">2026-08-20T11:17:07Z</ns2:modified>
  <ns0:category/>
</ns0:coreProperties>
</file>